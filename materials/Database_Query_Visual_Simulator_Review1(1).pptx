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Dela Gothic One"/>
      <p:regular r:id="rId20"/>
    </p:embeddedFont>
    <p:embeddedFont>
      <p:font typeface="DM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elaGothicOne-regular.fntdata"/><Relationship Id="rId11" Type="http://schemas.openxmlformats.org/officeDocument/2006/relationships/slide" Target="slides/slide7.xml"/><Relationship Id="rId22" Type="http://schemas.openxmlformats.org/officeDocument/2006/relationships/font" Target="fonts/DMSans-bold.fntdata"/><Relationship Id="rId10" Type="http://schemas.openxmlformats.org/officeDocument/2006/relationships/slide" Target="slides/slide6.xml"/><Relationship Id="rId21" Type="http://schemas.openxmlformats.org/officeDocument/2006/relationships/font" Target="fonts/DMSans-regular.fntdata"/><Relationship Id="rId13" Type="http://schemas.openxmlformats.org/officeDocument/2006/relationships/slide" Target="slides/slide9.xml"/><Relationship Id="rId24" Type="http://schemas.openxmlformats.org/officeDocument/2006/relationships/font" Target="fonts/DMSans-boldItalic.fntdata"/><Relationship Id="rId12" Type="http://schemas.openxmlformats.org/officeDocument/2006/relationships/slide" Target="slides/slide8.xml"/><Relationship Id="rId23" Type="http://schemas.openxmlformats.org/officeDocument/2006/relationships/font" Target="fonts/DM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740B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0000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1234440" y="1325880"/>
            <a:ext cx="1316736" cy="402336"/>
          </a:xfrm>
          <a:prstGeom prst="straightConnector1">
            <a:avLst/>
          </a:prstGeom>
          <a:noFill/>
          <a:ln cap="flat" cmpd="sng" w="15875">
            <a:solidFill>
              <a:srgbClr val="C91313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1929384" y="1728216"/>
            <a:ext cx="621792" cy="932688"/>
          </a:xfrm>
          <a:prstGeom prst="straightConnector1">
            <a:avLst/>
          </a:prstGeom>
          <a:noFill/>
          <a:ln cap="flat" cmpd="sng" w="15875">
            <a:solidFill>
              <a:srgbClr val="C91313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1929384" y="2660904"/>
            <a:ext cx="1325880" cy="320040"/>
          </a:xfrm>
          <a:prstGeom prst="straightConnector1">
            <a:avLst/>
          </a:prstGeom>
          <a:noFill/>
          <a:ln cap="flat" cmpd="sng" w="15875">
            <a:solidFill>
              <a:srgbClr val="C91313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1271016" y="2660904"/>
            <a:ext cx="658368" cy="1170432"/>
          </a:xfrm>
          <a:prstGeom prst="straightConnector1">
            <a:avLst/>
          </a:prstGeom>
          <a:noFill/>
          <a:ln cap="flat" cmpd="sng" w="15875">
            <a:solidFill>
              <a:srgbClr val="C91313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1271016" y="3831336"/>
            <a:ext cx="1408176" cy="859536"/>
          </a:xfrm>
          <a:prstGeom prst="straightConnector1">
            <a:avLst/>
          </a:prstGeom>
          <a:noFill/>
          <a:ln cap="flat" cmpd="sng" w="15875">
            <a:solidFill>
              <a:srgbClr val="C91313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>
            <a:off x="2679192" y="4690872"/>
            <a:ext cx="1014984" cy="374904"/>
          </a:xfrm>
          <a:prstGeom prst="straightConnector1">
            <a:avLst/>
          </a:prstGeom>
          <a:noFill/>
          <a:ln cap="flat" cmpd="sng" w="15875">
            <a:solidFill>
              <a:srgbClr val="C91313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1005840" y="1097280"/>
            <a:ext cx="457200" cy="457200"/>
          </a:xfrm>
          <a:prstGeom prst="ellipse">
            <a:avLst/>
          </a:prstGeom>
          <a:solidFill>
            <a:srgbClr val="C91313">
              <a:alpha val="90196"/>
            </a:srgbClr>
          </a:solidFill>
          <a:ln cap="flat" cmpd="sng" w="12700">
            <a:solidFill>
              <a:srgbClr val="FAE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377440" y="1554480"/>
            <a:ext cx="347472" cy="347472"/>
          </a:xfrm>
          <a:prstGeom prst="ellipse">
            <a:avLst/>
          </a:prstGeom>
          <a:solidFill>
            <a:srgbClr val="C91313">
              <a:alpha val="90196"/>
            </a:srgbClr>
          </a:solidFill>
          <a:ln cap="flat" cmpd="sng" w="12700">
            <a:solidFill>
              <a:srgbClr val="FAE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737360" y="2468880"/>
            <a:ext cx="384048" cy="384048"/>
          </a:xfrm>
          <a:prstGeom prst="ellipse">
            <a:avLst/>
          </a:prstGeom>
          <a:solidFill>
            <a:srgbClr val="C91313">
              <a:alpha val="90196"/>
            </a:srgbClr>
          </a:solidFill>
          <a:ln cap="flat" cmpd="sng" w="12700">
            <a:solidFill>
              <a:srgbClr val="FAE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108960" y="2834640"/>
            <a:ext cx="292608" cy="292608"/>
          </a:xfrm>
          <a:prstGeom prst="ellipse">
            <a:avLst/>
          </a:prstGeom>
          <a:solidFill>
            <a:srgbClr val="C91313">
              <a:alpha val="90196"/>
            </a:srgbClr>
          </a:solidFill>
          <a:ln cap="flat" cmpd="sng" w="12700">
            <a:solidFill>
              <a:srgbClr val="FAE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097280" y="3657600"/>
            <a:ext cx="347472" cy="347472"/>
          </a:xfrm>
          <a:prstGeom prst="ellipse">
            <a:avLst/>
          </a:prstGeom>
          <a:solidFill>
            <a:srgbClr val="C91313">
              <a:alpha val="90196"/>
            </a:srgbClr>
          </a:solidFill>
          <a:ln cap="flat" cmpd="sng" w="12700">
            <a:solidFill>
              <a:srgbClr val="FAE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468880" y="4480560"/>
            <a:ext cx="420624" cy="420624"/>
          </a:xfrm>
          <a:prstGeom prst="ellipse">
            <a:avLst/>
          </a:prstGeom>
          <a:solidFill>
            <a:srgbClr val="C91313">
              <a:alpha val="90196"/>
            </a:srgbClr>
          </a:solidFill>
          <a:ln cap="flat" cmpd="sng" w="12700">
            <a:solidFill>
              <a:srgbClr val="FAE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566160" y="4937760"/>
            <a:ext cx="256032" cy="256032"/>
          </a:xfrm>
          <a:prstGeom prst="ellipse">
            <a:avLst/>
          </a:prstGeom>
          <a:solidFill>
            <a:srgbClr val="C91313">
              <a:alpha val="90196"/>
            </a:srgbClr>
          </a:solidFill>
          <a:ln cap="flat" cmpd="sng" w="12700">
            <a:solidFill>
              <a:srgbClr val="FAE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029200" y="1874520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REVIEW-1  ·  PROJECT PRESENTATION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983480" y="2286000"/>
            <a:ext cx="6766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000"/>
              <a:buFont typeface="Dela Gothic One"/>
              <a:buNone/>
            </a:pPr>
            <a:r>
              <a:rPr b="1" i="0" lang="en-US" sz="40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Database Query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000"/>
              <a:buFont typeface="Dela Gothic One"/>
              <a:buNone/>
            </a:pPr>
            <a:r>
              <a:rPr b="1" i="0" lang="en-US" sz="40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Visual Simulator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029200" y="416052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b="0" i="1" lang="en-US" sz="14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safe, interactive sandbox for exploring SQL query optimization 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b="0" i="1" lang="en-US" sz="14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parsing, cost modeling, and what-if index analysis, visualized.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4;p3"/>
          <p:cNvCxnSpPr/>
          <p:nvPr/>
        </p:nvCxnSpPr>
        <p:spPr>
          <a:xfrm>
            <a:off x="5029200" y="507492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C913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3"/>
          <p:cNvSpPr/>
          <p:nvPr/>
        </p:nvSpPr>
        <p:spPr>
          <a:xfrm>
            <a:off x="5029200" y="5257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Team Members  ·  Course Name  ·  Guide Name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000"/>
              <a:buFont typeface="Dela Gothic One"/>
              <a:buNone/>
            </a:pPr>
            <a:r>
              <a:rPr b="1" i="0" lang="en-US" sz="30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The Problem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300"/>
              <a:buFont typeface="DM Sans"/>
              <a:buNone/>
            </a:pPr>
            <a:r>
              <a:rPr b="0" i="1" lang="en-US" sz="13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SQL performance is hard to see, and harder to safely test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40080" y="1554480"/>
            <a:ext cx="63093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EXPLAIN output is powerful but text-heavy and hard for beginners to read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Cost estimates are shown as raw numbers, not intuitive comparisons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Comparing join orders or index choices manually is slow and confusing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Experimenting with plan changes on a live database is risky and costly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dia/image4.jpeg" id="44" name="Google Shape;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572000"/>
            <a:ext cx="1874400" cy="1434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640080" y="6079331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050"/>
              <a:buFont typeface="DM Sans"/>
              <a:buNone/>
            </a:pPr>
            <a:r>
              <a:rPr b="1" i="0" lang="en-US" sz="1050" u="none" cap="none" strike="noStrike">
                <a:solidFill>
                  <a:srgbClr val="FAEBEB"/>
                </a:solidFill>
                <a:latin typeface="DM Sans"/>
                <a:ea typeface="DM Sans"/>
                <a:cs typeface="DM Sans"/>
                <a:sym typeface="DM Sans"/>
              </a:rPr>
              <a:t>Hidden Costs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dia/image5.png" id="46" name="Google Shape;4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7475" y="4572125"/>
            <a:ext cx="1874400" cy="1434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2697480" y="6079331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050"/>
              <a:buFont typeface="DM Sans"/>
              <a:buNone/>
            </a:pPr>
            <a:r>
              <a:rPr b="1" i="0" lang="en-US" sz="1050" u="none" cap="none" strike="noStrike">
                <a:solidFill>
                  <a:srgbClr val="FAEBEB"/>
                </a:solidFill>
                <a:latin typeface="DM Sans"/>
                <a:ea typeface="DM Sans"/>
                <a:cs typeface="DM Sans"/>
                <a:sym typeface="DM Sans"/>
              </a:rPr>
              <a:t>Textual Limits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dia/image6.jpeg" id="48" name="Google Shape;4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75" y="4572174"/>
            <a:ext cx="1874400" cy="1434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4754880" y="6079331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050"/>
              <a:buFont typeface="DM Sans"/>
              <a:buNone/>
            </a:pPr>
            <a:r>
              <a:rPr b="1" i="0" lang="en-US" sz="1050" u="none" cap="none" strike="noStrike">
                <a:solidFill>
                  <a:srgbClr val="FAEBEB"/>
                </a:solidFill>
                <a:latin typeface="DM Sans"/>
                <a:ea typeface="DM Sans"/>
                <a:cs typeface="DM Sans"/>
                <a:sym typeface="DM Sans"/>
              </a:rPr>
              <a:t>Slow Iteration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406640" y="1554480"/>
            <a:ext cx="4206240" cy="4206240"/>
          </a:xfrm>
          <a:prstGeom prst="roundRect">
            <a:avLst>
              <a:gd fmla="val 2609" name="adj"/>
            </a:avLst>
          </a:prstGeom>
          <a:solidFill>
            <a:srgbClr val="1C0F0F"/>
          </a:solidFill>
          <a:ln cap="flat" cmpd="sng" w="12700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7680960" y="1783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C91313"/>
                </a:solidFill>
                <a:latin typeface="Courier New"/>
                <a:ea typeface="Courier New"/>
                <a:cs typeface="Courier New"/>
                <a:sym typeface="Courier New"/>
              </a:rPr>
              <a:t>EXPLAIN ANALYZE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7680960" y="2240280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98F8F"/>
                </a:solidFill>
                <a:latin typeface="Courier New"/>
                <a:ea typeface="Courier New"/>
                <a:cs typeface="Courier New"/>
                <a:sym typeface="Courier New"/>
              </a:rPr>
              <a:t>Seq Scan on orders  cost=0.00..1839.00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98F8F"/>
                </a:solidFill>
                <a:latin typeface="Courier New"/>
                <a:ea typeface="Courier New"/>
                <a:cs typeface="Courier New"/>
                <a:sym typeface="Courier New"/>
              </a:rPr>
              <a:t>  Filter: (status = 'shipped')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98F8F"/>
                </a:solidFill>
                <a:latin typeface="Courier New"/>
                <a:ea typeface="Courier New"/>
                <a:cs typeface="Courier New"/>
                <a:sym typeface="Courier New"/>
              </a:rPr>
              <a:t>  rows=48213  width=64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98F8F"/>
                </a:solidFill>
                <a:latin typeface="Courier New"/>
                <a:ea typeface="Courier New"/>
                <a:cs typeface="Courier New"/>
                <a:sym typeface="Courier New"/>
              </a:rPr>
              <a:t>Hash Join  cost=2210..5601.44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98F8F"/>
                </a:solidFill>
                <a:latin typeface="Courier New"/>
                <a:ea typeface="Courier New"/>
                <a:cs typeface="Courier New"/>
                <a:sym typeface="Courier New"/>
              </a:rPr>
              <a:t>  Hash Cond: (o.cust_id = c.id)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98F8F"/>
                </a:solidFill>
                <a:latin typeface="Courier New"/>
                <a:ea typeface="Courier New"/>
                <a:cs typeface="Courier New"/>
                <a:sym typeface="Courier New"/>
              </a:rPr>
              <a:t>  -&gt; Index Scan using cust_pk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98F8F"/>
                </a:solidFill>
                <a:latin typeface="Courier New"/>
                <a:ea typeface="Courier New"/>
                <a:cs typeface="Courier New"/>
                <a:sym typeface="Courier New"/>
              </a:rPr>
              <a:t>  -&gt; Hash  cost=812.00..812.00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4"/>
          <p:cNvCxnSpPr/>
          <p:nvPr/>
        </p:nvCxnSpPr>
        <p:spPr>
          <a:xfrm>
            <a:off x="7680960" y="4754880"/>
            <a:ext cx="3657600" cy="0"/>
          </a:xfrm>
          <a:prstGeom prst="straightConnector1">
            <a:avLst/>
          </a:prstGeom>
          <a:noFill/>
          <a:ln cap="flat" cmpd="sng" w="12700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4"/>
          <p:cNvSpPr/>
          <p:nvPr/>
        </p:nvSpPr>
        <p:spPr>
          <a:xfrm>
            <a:off x="7680960" y="493776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None/>
            </a:pPr>
            <a:r>
              <a:rPr b="0" i="1" lang="en-US" sz="13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Hard to read. Hard to compare. Risky to test live.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Database Query Visual Simulator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000"/>
              <a:buFont typeface="Dela Gothic One"/>
              <a:buNone/>
            </a:pPr>
            <a:r>
              <a:rPr b="1" i="0" lang="en-US" sz="30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Why This Problem Is Worth Solving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300"/>
              <a:buFont typeface="DM Sans"/>
              <a:buNone/>
            </a:pPr>
            <a:r>
              <a:rPr b="0" i="1" lang="en-US" sz="13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Clear value for the people who write and tune queries every day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1691640"/>
            <a:ext cx="5387188" cy="1965960"/>
          </a:xfrm>
          <a:prstGeom prst="roundRect">
            <a:avLst>
              <a:gd fmla="val 4651" name="adj"/>
            </a:avLst>
          </a:prstGeom>
          <a:solidFill>
            <a:srgbClr val="1C0F0F"/>
          </a:solidFill>
          <a:ln cap="flat" cmpd="sng" w="12700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68680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600200" y="1965960"/>
            <a:ext cx="41070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700"/>
              <a:buFont typeface="Dela Gothic One"/>
              <a:buNone/>
            </a:pPr>
            <a:r>
              <a:rPr b="1" i="0" lang="en-US" sz="17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Students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600200" y="2377440"/>
            <a:ext cx="41070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Learn how database planners actually make decisions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255868" y="1691640"/>
            <a:ext cx="5387188" cy="1965960"/>
          </a:xfrm>
          <a:prstGeom prst="roundRect">
            <a:avLst>
              <a:gd fmla="val 4651" name="adj"/>
            </a:avLst>
          </a:prstGeom>
          <a:solidFill>
            <a:srgbClr val="1C0F0F"/>
          </a:solidFill>
          <a:ln cap="flat" cmpd="sng" w="12700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575908" y="2011680"/>
            <a:ext cx="548640" cy="54864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575908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307428" y="1965960"/>
            <a:ext cx="41070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700"/>
              <a:buFont typeface="Dela Gothic One"/>
              <a:buNone/>
            </a:pPr>
            <a:r>
              <a:rPr b="1" i="0" lang="en-US" sz="17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Junior Developers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7307428" y="2377440"/>
            <a:ext cx="41070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Reason confidently about why a query runs slow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48640" y="3977640"/>
            <a:ext cx="5387188" cy="1965960"/>
          </a:xfrm>
          <a:prstGeom prst="roundRect">
            <a:avLst>
              <a:gd fmla="val 4651" name="adj"/>
            </a:avLst>
          </a:prstGeom>
          <a:solidFill>
            <a:srgbClr val="1C0F0F"/>
          </a:solidFill>
          <a:ln cap="flat" cmpd="sng" w="12700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868680" y="4297680"/>
            <a:ext cx="548640" cy="54864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868680" y="4297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600200" y="4251960"/>
            <a:ext cx="41070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700"/>
              <a:buFont typeface="Dela Gothic One"/>
              <a:buNone/>
            </a:pPr>
            <a:r>
              <a:rPr b="1" i="0" lang="en-US" sz="17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DBAs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600200" y="4663440"/>
            <a:ext cx="41070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Compare index and join strategies without touching production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255868" y="3977640"/>
            <a:ext cx="5387188" cy="1965960"/>
          </a:xfrm>
          <a:prstGeom prst="roundRect">
            <a:avLst>
              <a:gd fmla="val 4651" name="adj"/>
            </a:avLst>
          </a:prstGeom>
          <a:solidFill>
            <a:srgbClr val="1C0F0F"/>
          </a:solidFill>
          <a:ln cap="flat" cmpd="sng" w="12700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575908" y="4297680"/>
            <a:ext cx="548640" cy="54864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575908" y="4297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307428" y="4251960"/>
            <a:ext cx="41070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700"/>
              <a:buFont typeface="Dela Gothic One"/>
              <a:buNone/>
            </a:pPr>
            <a:r>
              <a:rPr b="1" i="0" lang="en-US" sz="17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Backend Engineers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307428" y="4663440"/>
            <a:ext cx="41070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Communicate performance tradeoffs clearly to a team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Database Query Visual Simulator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000"/>
              <a:buFont typeface="Dela Gothic One"/>
              <a:buNone/>
            </a:pPr>
            <a:r>
              <a:rPr b="1" i="0" lang="en-US" sz="30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Introduction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300"/>
              <a:buFont typeface="DM Sans"/>
              <a:buNone/>
            </a:pPr>
            <a:r>
              <a:rPr b="0" i="1" lang="en-US" sz="13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Context before the architecture: what query optimization means, and where this project fits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48640" y="1691640"/>
            <a:ext cx="5387188" cy="1965960"/>
          </a:xfrm>
          <a:prstGeom prst="roundRect">
            <a:avLst>
              <a:gd fmla="val 4651" name="adj"/>
            </a:avLst>
          </a:prstGeom>
          <a:solidFill>
            <a:srgbClr val="1C0F0F"/>
          </a:solidFill>
          <a:ln cap="flat" cmpd="sng" w="12700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68680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600200" y="1965960"/>
            <a:ext cx="41070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700"/>
              <a:buFont typeface="Dela Gothic One"/>
              <a:buNone/>
            </a:pPr>
            <a:r>
              <a:rPr b="1" i="0" lang="en-US" sz="17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What Query Optimization 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600200" y="2377440"/>
            <a:ext cx="41070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The planner picks join order, scan type, and indexes to run a query as cheaply as possible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255868" y="1691640"/>
            <a:ext cx="5387188" cy="1965960"/>
          </a:xfrm>
          <a:prstGeom prst="roundRect">
            <a:avLst>
              <a:gd fmla="val 4651" name="adj"/>
            </a:avLst>
          </a:prstGeom>
          <a:solidFill>
            <a:srgbClr val="1C0F0F"/>
          </a:solidFill>
          <a:ln cap="flat" cmpd="sng" w="12700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575908" y="2011680"/>
            <a:ext cx="548640" cy="54864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575908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7307428" y="1965960"/>
            <a:ext cx="41070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700"/>
              <a:buFont typeface="Dela Gothic One"/>
              <a:buNone/>
            </a:pPr>
            <a:r>
              <a:rPr b="1" i="0" lang="en-US" sz="17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Why It's Hard to See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7307428" y="2377440"/>
            <a:ext cx="41070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That decision-making happens internally — developers only see the final, text-heavy plan output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48640" y="3977640"/>
            <a:ext cx="5387188" cy="1965960"/>
          </a:xfrm>
          <a:prstGeom prst="roundRect">
            <a:avLst>
              <a:gd fmla="val 4651" name="adj"/>
            </a:avLst>
          </a:prstGeom>
          <a:solidFill>
            <a:srgbClr val="1C0F0F"/>
          </a:solidFill>
          <a:ln cap="flat" cmpd="sng" w="12700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68680" y="4297680"/>
            <a:ext cx="548640" cy="54864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868680" y="4297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600200" y="4251960"/>
            <a:ext cx="41070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700"/>
              <a:buFont typeface="Dela Gothic One"/>
              <a:buNone/>
            </a:pPr>
            <a:r>
              <a:rPr b="1" i="0" lang="en-US" sz="17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Where Simulation Helps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600200" y="4663440"/>
            <a:ext cx="41070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visual, interactive model can make those trade-offs explorable without a live database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255868" y="3977640"/>
            <a:ext cx="5387188" cy="1965960"/>
          </a:xfrm>
          <a:prstGeom prst="roundRect">
            <a:avLst>
              <a:gd fmla="val 4651" name="adj"/>
            </a:avLst>
          </a:prstGeom>
          <a:solidFill>
            <a:srgbClr val="1C0F0F"/>
          </a:solidFill>
          <a:ln cap="flat" cmpd="sng" w="12700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575908" y="4297680"/>
            <a:ext cx="548640" cy="54864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575908" y="4297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7307428" y="4251960"/>
            <a:ext cx="41070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700"/>
              <a:buFont typeface="Dela Gothic One"/>
              <a:buNone/>
            </a:pPr>
            <a:r>
              <a:rPr b="1" i="0" lang="en-US" sz="17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This Project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7307428" y="4663440"/>
            <a:ext cx="41070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Connects SQL parsing, cost modeling, and what-if index analysis into one explorable pipeline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Database Query Visual Simulator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dia/image7.jpeg"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2600" y="1"/>
            <a:ext cx="4571995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000"/>
              <a:buFont typeface="Dela Gothic One"/>
              <a:buNone/>
            </a:pPr>
            <a:r>
              <a:rPr b="1" i="0" lang="en-US" sz="30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Proposed Solution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300"/>
              <a:buFont typeface="DM Sans"/>
              <a:buNone/>
            </a:pPr>
            <a:r>
              <a:rPr b="0" i="1" lang="en-US" sz="13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Three-part architecture, one deterministic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23748" y="2103120"/>
            <a:ext cx="3246120" cy="2103120"/>
          </a:xfrm>
          <a:prstGeom prst="roundRect">
            <a:avLst>
              <a:gd fmla="val 5217" name="adj"/>
            </a:avLst>
          </a:prstGeom>
          <a:solidFill>
            <a:srgbClr val="8D2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952348" y="22860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C9"/>
              </a:buClr>
              <a:buSzPts val="2600"/>
              <a:buFont typeface="Dela Gothic One"/>
              <a:buNone/>
            </a:pPr>
            <a:r>
              <a:rPr b="1" i="0" lang="en-US" sz="2600" u="none" cap="none" strike="noStrike">
                <a:solidFill>
                  <a:srgbClr val="FFC9C9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952348" y="2880360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ela Gothic One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SQL Parsing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952348" y="3429000"/>
            <a:ext cx="2788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ANTLR4 grammar builds an AST from raw SQL 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969868" y="2834640"/>
            <a:ext cx="502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C98F8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472788" y="2103120"/>
            <a:ext cx="3246120" cy="2103120"/>
          </a:xfrm>
          <a:prstGeom prst="roundRect">
            <a:avLst>
              <a:gd fmla="val 5217" name="adj"/>
            </a:avLst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701388" y="22860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C9"/>
              </a:buClr>
              <a:buSzPts val="2600"/>
              <a:buFont typeface="Dela Gothic One"/>
              <a:buNone/>
            </a:pPr>
            <a:r>
              <a:rPr b="1" i="0" lang="en-US" sz="2600" u="none" cap="none" strike="noStrike">
                <a:solidFill>
                  <a:srgbClr val="FFC9C9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701388" y="2880360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ela Gothic One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Java Cost Engine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701388" y="3429000"/>
            <a:ext cx="2788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PostgreSQL-style heuristics estimate CPU, I/O and cardinality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7718908" y="2834640"/>
            <a:ext cx="502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C98F8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8221828" y="2103120"/>
            <a:ext cx="3246120" cy="2103120"/>
          </a:xfrm>
          <a:prstGeom prst="roundRect">
            <a:avLst>
              <a:gd fmla="val 5217" name="adj"/>
            </a:avLst>
          </a:prstGeom>
          <a:solidFill>
            <a:srgbClr val="740B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8450428" y="22860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C9"/>
              </a:buClr>
              <a:buSzPts val="2600"/>
              <a:buFont typeface="Dela Gothic One"/>
              <a:buNone/>
            </a:pPr>
            <a:r>
              <a:rPr b="1" i="0" lang="en-US" sz="2600" u="none" cap="none" strike="noStrike">
                <a:solidFill>
                  <a:srgbClr val="FFC9C9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8450428" y="2880360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ela Gothic One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React Flow Visualization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8450428" y="3429000"/>
            <a:ext cx="2788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Execution plan renders as an interactive, explorable tree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914400" y="4480560"/>
            <a:ext cx="103628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None/>
            </a:pPr>
            <a:r>
              <a:rPr b="0" i="1" lang="en-US" sz="13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Users can toggle hypothetical indexes and immediately see how estimated cost changes — a visual sandbox for comparing baseline and simulated plans.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Database Query Visual Simulator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000"/>
              <a:buFont typeface="Dela Gothic One"/>
              <a:buNone/>
            </a:pPr>
            <a:r>
              <a:rPr b="1" i="0" lang="en-US" sz="30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Base Paper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40080" y="1600200"/>
            <a:ext cx="6949440" cy="1234440"/>
          </a:xfrm>
          <a:prstGeom prst="roundRect">
            <a:avLst>
              <a:gd fmla="val 5926" name="adj"/>
            </a:avLst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914400" y="1737360"/>
            <a:ext cx="6400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ela Gothic One"/>
              <a:buNone/>
            </a:pPr>
            <a:r>
              <a:rPr b="1" i="1" lang="en-US" sz="160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“When Temporary Results Meet Intermediate Index: An Optimization Technique of Procedural SQL Query Processing” — Rahman et al., Data &amp; Knowledge Engineering 164 (2026) 102577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40080" y="3063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500"/>
              <a:buFont typeface="Dela Gothic One"/>
              <a:buNone/>
            </a:pPr>
            <a:r>
              <a:rPr b="1" i="0" lang="en-US" sz="15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Why it anchors this project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40080" y="3474720"/>
            <a:ext cx="66751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Directly about index selection via cost-based what-if analysis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Supports the exact toggle-index-and-compare-cost workflow the simulator explores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Proposes a concrete cost model (full-scan vs. index-scan) the simulator can mirror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hypothetical-indexing method that maps cleanly onto a visual sandbox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7955280" y="1600200"/>
            <a:ext cx="3611880" cy="4572000"/>
          </a:xfrm>
          <a:prstGeom prst="roundRect">
            <a:avLst>
              <a:gd fmla="val 3038" name="adj"/>
            </a:avLst>
          </a:prstGeom>
          <a:solidFill>
            <a:srgbClr val="1C0F0F"/>
          </a:solidFill>
          <a:ln cap="flat" cmpd="sng" w="1587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8183880" y="17830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400"/>
              <a:buFont typeface="Dela Gothic One"/>
              <a:buNone/>
            </a:pPr>
            <a:r>
              <a:rPr b="1" i="0" lang="en-US" sz="14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How the project extends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8183880" y="2331720"/>
            <a:ext cx="32004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Turns the paper's what-if cost model for intermediate indexes into a visual, interactive simulator — letting users toggle a hypothetical index and immediately see the estimated cost shift, instead of reading it off a formula.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dia/image10.jpeg" id="152" name="Google Shape;1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5977" y="3931925"/>
            <a:ext cx="2476200" cy="1828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3" name="Google Shape;153;p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Database Query Visual Simulator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000"/>
              <a:buFont typeface="Dela Gothic One"/>
              <a:buNone/>
            </a:pPr>
            <a:r>
              <a:rPr b="1" i="0" lang="en-US" sz="30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Literature Review Summary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48640" y="1691640"/>
            <a:ext cx="5387188" cy="1965960"/>
          </a:xfrm>
          <a:prstGeom prst="roundRect">
            <a:avLst>
              <a:gd fmla="val 4651" name="adj"/>
            </a:avLst>
          </a:prstGeom>
          <a:solidFill>
            <a:srgbClr val="1C0F0F"/>
          </a:solidFill>
          <a:ln cap="flat" cmpd="sng" w="12700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822960" y="1947672"/>
            <a:ext cx="457200" cy="45720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822960" y="19476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1463040" y="1920240"/>
            <a:ext cx="41984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600"/>
              <a:buFont typeface="Dela Gothic One"/>
              <a:buNone/>
            </a:pPr>
            <a:r>
              <a:rPr b="1" i="0" lang="en-US" sz="16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Traditional Optimization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914400" y="2560320"/>
            <a:ext cx="47471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Indexing, join order, rewriting, and execution plans strongly affect performance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255868" y="1691640"/>
            <a:ext cx="5387188" cy="1965960"/>
          </a:xfrm>
          <a:prstGeom prst="roundRect">
            <a:avLst>
              <a:gd fmla="val 4651" name="adj"/>
            </a:avLst>
          </a:prstGeom>
          <a:solidFill>
            <a:srgbClr val="1C0F0F"/>
          </a:solidFill>
          <a:ln cap="flat" cmpd="sng" w="12700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6530188" y="1947672"/>
            <a:ext cx="457200" cy="457200"/>
          </a:xfrm>
          <a:prstGeom prst="ellipse">
            <a:avLst/>
          </a:prstGeom>
          <a:solidFill>
            <a:srgbClr val="8D2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530188" y="19476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7170268" y="1920240"/>
            <a:ext cx="41984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600"/>
              <a:buFont typeface="Dela Gothic One"/>
              <a:buNone/>
            </a:pPr>
            <a:r>
              <a:rPr b="1" i="0" lang="en-US" sz="16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Big-Data Workloads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621628" y="2560320"/>
            <a:ext cx="47471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Real-world systems often combine multiple optimization techniques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48640" y="3977640"/>
            <a:ext cx="5387188" cy="1965960"/>
          </a:xfrm>
          <a:prstGeom prst="roundRect">
            <a:avLst>
              <a:gd fmla="val 4651" name="adj"/>
            </a:avLst>
          </a:prstGeom>
          <a:solidFill>
            <a:srgbClr val="1C0F0F"/>
          </a:solidFill>
          <a:ln cap="flat" cmpd="sng" w="12700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822960" y="4233672"/>
            <a:ext cx="457200" cy="457200"/>
          </a:xfrm>
          <a:prstGeom prst="ellipse">
            <a:avLst/>
          </a:prstGeom>
          <a:solidFill>
            <a:srgbClr val="740B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822960" y="42336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1463040" y="4206240"/>
            <a:ext cx="41984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600"/>
              <a:buFont typeface="Dela Gothic One"/>
              <a:buNone/>
            </a:pPr>
            <a:r>
              <a:rPr b="1" i="0" lang="en-US" sz="16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AI / ML / RL Approaches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914400" y="4846320"/>
            <a:ext cx="47471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Improve adaptability, but add overhead and training dependence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255868" y="3977640"/>
            <a:ext cx="5387188" cy="1965960"/>
          </a:xfrm>
          <a:prstGeom prst="roundRect">
            <a:avLst>
              <a:gd fmla="val 4651" name="adj"/>
            </a:avLst>
          </a:prstGeom>
          <a:solidFill>
            <a:srgbClr val="1C0F0F"/>
          </a:solidFill>
          <a:ln cap="flat" cmpd="sng" w="12700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530188" y="4233672"/>
            <a:ext cx="457200" cy="45720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6530188" y="42336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7170268" y="4206240"/>
            <a:ext cx="41984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600"/>
              <a:buFont typeface="Dela Gothic One"/>
              <a:buNone/>
            </a:pPr>
            <a:r>
              <a:rPr b="1" i="0" lang="en-US" sz="16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Hybrid &amp; Multi-Agent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621628" y="4846320"/>
            <a:ext cx="47471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Promising direction, but still hard for end users to inspect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Database Query Visual Simulator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000"/>
              <a:buFont typeface="Dela Gothic One"/>
              <a:buNone/>
            </a:pPr>
            <a:r>
              <a:rPr b="1" i="0" lang="en-US" sz="30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Research Gap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300"/>
              <a:buFont typeface="DM Sans"/>
              <a:buNone/>
            </a:pPr>
            <a:r>
              <a:rPr b="0" i="1" lang="en-US" sz="13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Optimization is well studied — explainability is not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dia/image9.png" id="190" name="Google Shape;1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8520" y="502920"/>
            <a:ext cx="502920" cy="402336"/>
          </a:xfrm>
          <a:prstGeom prst="ellipse">
            <a:avLst/>
          </a:prstGeom>
          <a:noFill/>
          <a:ln>
            <a:noFill/>
          </a:ln>
        </p:spPr>
      </p:pic>
      <p:sp>
        <p:nvSpPr>
          <p:cNvPr id="191" name="Google Shape;191;p10"/>
          <p:cNvSpPr/>
          <p:nvPr/>
        </p:nvSpPr>
        <p:spPr>
          <a:xfrm>
            <a:off x="640080" y="1737360"/>
            <a:ext cx="10911535" cy="1325880"/>
          </a:xfrm>
          <a:prstGeom prst="roundRect">
            <a:avLst>
              <a:gd fmla="val 6897" name="adj"/>
            </a:avLst>
          </a:prstGeom>
          <a:solidFill>
            <a:srgbClr val="1C0F0F"/>
          </a:solidFill>
          <a:ln cap="flat" cmpd="sng" w="12700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914400" y="2080260"/>
            <a:ext cx="640080" cy="64008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914400" y="20802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1828800" y="1920240"/>
            <a:ext cx="3840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600"/>
              <a:buFont typeface="Dela Gothic One"/>
              <a:buNone/>
            </a:pPr>
            <a:r>
              <a:rPr b="1" i="0" lang="en-US" sz="16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Lack of Visual Explanation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852160" y="1874520"/>
            <a:ext cx="5516575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Tools show plans but don't make planner reasoning easy to understand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40080" y="3337560"/>
            <a:ext cx="10911535" cy="1325880"/>
          </a:xfrm>
          <a:prstGeom prst="roundRect">
            <a:avLst>
              <a:gd fmla="val 6897" name="adj"/>
            </a:avLst>
          </a:prstGeom>
          <a:solidFill>
            <a:srgbClr val="1C0F0F"/>
          </a:solidFill>
          <a:ln cap="flat" cmpd="sng" w="12700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914400" y="3680460"/>
            <a:ext cx="640080" cy="640080"/>
          </a:xfrm>
          <a:prstGeom prst="ellipse">
            <a:avLst/>
          </a:prstGeom>
          <a:solidFill>
            <a:srgbClr val="8D2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914400" y="36804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1828800" y="3520440"/>
            <a:ext cx="3840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600"/>
              <a:buFont typeface="Dela Gothic One"/>
              <a:buNone/>
            </a:pPr>
            <a:r>
              <a:rPr b="1" i="0" lang="en-US" sz="16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Complexity of AI / RL Methods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5852160" y="3474720"/>
            <a:ext cx="5516575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Improve performance, but introduce overhead and harder-to-justify decisions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640080" y="4937760"/>
            <a:ext cx="10911535" cy="1325880"/>
          </a:xfrm>
          <a:prstGeom prst="roundRect">
            <a:avLst>
              <a:gd fmla="val 6897" name="adj"/>
            </a:avLst>
          </a:prstGeom>
          <a:solidFill>
            <a:srgbClr val="1C0F0F"/>
          </a:solidFill>
          <a:ln cap="flat" cmpd="sng" w="12700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914400" y="5280660"/>
            <a:ext cx="640080" cy="640080"/>
          </a:xfrm>
          <a:prstGeom prst="ellipse">
            <a:avLst/>
          </a:prstGeom>
          <a:solidFill>
            <a:srgbClr val="740B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914400" y="52806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828800" y="5120640"/>
            <a:ext cx="3840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600"/>
              <a:buFont typeface="Dela Gothic One"/>
              <a:buNone/>
            </a:pPr>
            <a:r>
              <a:rPr b="1" i="0" lang="en-US" sz="16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Limited Offline Simulation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5852160" y="5074920"/>
            <a:ext cx="5516575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Room remains for a transparent tool that explains behavior without a live database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Database Query Visual Simulator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000"/>
              <a:buFont typeface="Dela Gothic One"/>
              <a:buNone/>
            </a:pPr>
            <a:r>
              <a:rPr b="1" i="0" lang="en-US" sz="30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Project 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dia/image12.png" id="214" name="Google Shape;21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8520" y="502920"/>
            <a:ext cx="502920" cy="50292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5" name="Google Shape;215;p11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1417320" y="169164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Study existing SQL query optimization approaches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11"/>
          <p:cNvCxnSpPr/>
          <p:nvPr/>
        </p:nvCxnSpPr>
        <p:spPr>
          <a:xfrm>
            <a:off x="891540" y="2240280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8D242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9" name="Google Shape;219;p11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640080" y="25786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1417320" y="253288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Identify the limitations of current methods and tools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11"/>
          <p:cNvCxnSpPr/>
          <p:nvPr/>
        </p:nvCxnSpPr>
        <p:spPr>
          <a:xfrm>
            <a:off x="891540" y="308152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8D242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3" name="Google Shape;223;p11"/>
          <p:cNvSpPr/>
          <p:nvPr/>
        </p:nvSpPr>
        <p:spPr>
          <a:xfrm>
            <a:off x="640080" y="3419856"/>
            <a:ext cx="502920" cy="50292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640080" y="341985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1417320" y="3374136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Design a visual simulation environment for query plans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11"/>
          <p:cNvCxnSpPr/>
          <p:nvPr/>
        </p:nvCxnSpPr>
        <p:spPr>
          <a:xfrm>
            <a:off x="891540" y="3922776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8D242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7" name="Google Shape;227;p11"/>
          <p:cNvSpPr/>
          <p:nvPr/>
        </p:nvSpPr>
        <p:spPr>
          <a:xfrm>
            <a:off x="640080" y="4261104"/>
            <a:ext cx="502920" cy="50292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640080" y="426110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1417320" y="4215384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Show how hypothetical indexes affect estimated cost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11"/>
          <p:cNvCxnSpPr/>
          <p:nvPr/>
        </p:nvCxnSpPr>
        <p:spPr>
          <a:xfrm>
            <a:off x="891540" y="4764024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8D242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1" name="Google Shape;231;p11"/>
          <p:cNvSpPr/>
          <p:nvPr/>
        </p:nvSpPr>
        <p:spPr>
          <a:xfrm>
            <a:off x="640080" y="5102352"/>
            <a:ext cx="502920" cy="50292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640080" y="51023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1417320" y="5056632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Improve explainability and decision support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Database Query Visual Simulator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000"/>
              <a:buFont typeface="Dela Gothic One"/>
              <a:buNone/>
            </a:pPr>
            <a:r>
              <a:rPr b="1" i="0" lang="en-US" sz="30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Scope and MVP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300"/>
              <a:buFont typeface="DM Sans"/>
              <a:buNone/>
            </a:pPr>
            <a:r>
              <a:rPr b="0" i="1" lang="en-US" sz="13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Narrow enough to complete, useful enough to demonstrate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dia/image13.png" id="243" name="Google Shape;2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8520" y="502920"/>
            <a:ext cx="502920" cy="50292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4" name="Google Shape;244;p12"/>
          <p:cNvSpPr/>
          <p:nvPr/>
        </p:nvSpPr>
        <p:spPr>
          <a:xfrm>
            <a:off x="548640" y="1645920"/>
            <a:ext cx="5364328" cy="4206240"/>
          </a:xfrm>
          <a:prstGeom prst="roundRect">
            <a:avLst>
              <a:gd fmla="val 2609" name="adj"/>
            </a:avLst>
          </a:prstGeom>
          <a:solidFill>
            <a:srgbClr val="1C0F0F"/>
          </a:solidFill>
          <a:ln cap="flat" cmpd="sng" w="15875">
            <a:solidFill>
              <a:srgbClr val="C913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1417320" y="1828800"/>
            <a:ext cx="44499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700"/>
              <a:buFont typeface="Dela Gothic One"/>
              <a:buNone/>
            </a:pPr>
            <a:r>
              <a:rPr b="1" i="0" lang="en-US" sz="17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Included in the MVP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822960" y="2514600"/>
            <a:ext cx="4815688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SELECT queries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JOIN operations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WHERE clauses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ORDER BY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Schema assumptions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Row-count assumptions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Cost simulation for indexes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6278728" y="1645920"/>
            <a:ext cx="5364328" cy="4206240"/>
          </a:xfrm>
          <a:prstGeom prst="roundRect">
            <a:avLst>
              <a:gd fmla="val 2609" name="adj"/>
            </a:avLst>
          </a:prstGeom>
          <a:solidFill>
            <a:srgbClr val="1C0F0F"/>
          </a:solidFill>
          <a:ln cap="flat" cmpd="sng" w="1587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6553048" y="1828800"/>
            <a:ext cx="457200" cy="457200"/>
          </a:xfrm>
          <a:prstGeom prst="ellipse">
            <a:avLst/>
          </a:prstGeom>
          <a:solidFill>
            <a:srgbClr val="8D2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6553048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✗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7147408" y="1828800"/>
            <a:ext cx="44499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700"/>
              <a:buFont typeface="Dela Gothic One"/>
              <a:buNone/>
            </a:pPr>
            <a:r>
              <a:rPr b="1" i="0" lang="en-US" sz="17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Excluded from the MVP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6553048" y="2514600"/>
            <a:ext cx="4815688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Live database connections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Advanced SQL (CTEs, window functions, subqueries)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Full PostgreSQL dialect coverage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●"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Production-grade optimizer replacement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Database Query Visual Simulator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000"/>
              <a:buFont typeface="Dela Gothic One"/>
              <a:buNone/>
            </a:pPr>
            <a:r>
              <a:rPr b="1" i="0" lang="en-US" sz="30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Methodology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300"/>
              <a:buFont typeface="DM Sans"/>
              <a:buNone/>
            </a:pPr>
            <a:r>
              <a:rPr b="0" i="1" lang="en-US" sz="13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A deterministic, six-step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548640" y="1691640"/>
            <a:ext cx="3515258" cy="1691640"/>
          </a:xfrm>
          <a:prstGeom prst="roundRect">
            <a:avLst>
              <a:gd fmla="val 5405" name="adj"/>
            </a:avLst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731520" y="180136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C9"/>
              </a:buClr>
              <a:buSzPts val="2200"/>
              <a:buFont typeface="Dela Gothic One"/>
              <a:buNone/>
            </a:pPr>
            <a:r>
              <a:rPr b="1" i="0" lang="en-US" sz="2200" u="none" cap="none" strike="noStrike">
                <a:solidFill>
                  <a:srgbClr val="FFC9C9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731520" y="2286000"/>
            <a:ext cx="314949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Dela Gothic One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Parse SQL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731520" y="2679192"/>
            <a:ext cx="3149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ANTLR4, PostgreSQL-oriented grammar subset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4063898" y="23088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98F8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4338218" y="1691640"/>
            <a:ext cx="3515258" cy="1691640"/>
          </a:xfrm>
          <a:prstGeom prst="roundRect">
            <a:avLst>
              <a:gd fmla="val 5405" name="adj"/>
            </a:avLst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4521098" y="180136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C9"/>
              </a:buClr>
              <a:buSzPts val="2200"/>
              <a:buFont typeface="Dela Gothic One"/>
              <a:buNone/>
            </a:pPr>
            <a:r>
              <a:rPr b="1" i="0" lang="en-US" sz="2200" u="none" cap="none" strike="noStrike">
                <a:solidFill>
                  <a:srgbClr val="FFC9C9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4521098" y="2286000"/>
            <a:ext cx="314949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Dela Gothic One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Analyze AST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4521098" y="2679192"/>
            <a:ext cx="3149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Java visitor extracts tables, joins, predicates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7853477" y="23088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98F8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8127797" y="1691640"/>
            <a:ext cx="3515258" cy="1691640"/>
          </a:xfrm>
          <a:prstGeom prst="roundRect">
            <a:avLst>
              <a:gd fmla="val 5405" name="adj"/>
            </a:avLst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8310677" y="180136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C9"/>
              </a:buClr>
              <a:buSzPts val="2200"/>
              <a:buFont typeface="Dela Gothic One"/>
              <a:buNone/>
            </a:pPr>
            <a:r>
              <a:rPr b="1" i="0" lang="en-US" sz="2200" u="none" cap="none" strike="noStrike">
                <a:solidFill>
                  <a:srgbClr val="FFC9C9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8310677" y="2286000"/>
            <a:ext cx="314949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Dela Gothic One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Model Cost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8310677" y="2679192"/>
            <a:ext cx="3149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PostgreSQL-style CPU / I/O / cardinality formulas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548640" y="3657600"/>
            <a:ext cx="3515258" cy="1691640"/>
          </a:xfrm>
          <a:prstGeom prst="roundRect">
            <a:avLst>
              <a:gd fmla="val 5405" name="adj"/>
            </a:avLst>
          </a:prstGeom>
          <a:solidFill>
            <a:srgbClr val="8D2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731520" y="376732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C9"/>
              </a:buClr>
              <a:buSzPts val="2200"/>
              <a:buFont typeface="Dela Gothic One"/>
              <a:buNone/>
            </a:pPr>
            <a:r>
              <a:rPr b="1" i="0" lang="en-US" sz="2200" u="none" cap="none" strike="noStrike">
                <a:solidFill>
                  <a:srgbClr val="FFC9C9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731520" y="4251960"/>
            <a:ext cx="314949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Dela Gothic One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Build Plan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731520" y="4645152"/>
            <a:ext cx="3149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Logical execution tree: scan, join, filter nodes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4063898" y="42748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98F8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4338218" y="3657600"/>
            <a:ext cx="3515258" cy="1691640"/>
          </a:xfrm>
          <a:prstGeom prst="roundRect">
            <a:avLst>
              <a:gd fmla="val 5405" name="adj"/>
            </a:avLst>
          </a:prstGeom>
          <a:solidFill>
            <a:srgbClr val="8D2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4521098" y="376732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C9"/>
              </a:buClr>
              <a:buSzPts val="2200"/>
              <a:buFont typeface="Dela Gothic One"/>
              <a:buNone/>
            </a:pPr>
            <a:r>
              <a:rPr b="1" i="0" lang="en-US" sz="2200" u="none" cap="none" strike="noStrike">
                <a:solidFill>
                  <a:srgbClr val="FFC9C9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4521098" y="4251960"/>
            <a:ext cx="314949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Dela Gothic One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Visualize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4521098" y="4645152"/>
            <a:ext cx="3149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Render the tree in React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7853477" y="42748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98F8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8127797" y="3657600"/>
            <a:ext cx="3515258" cy="1691640"/>
          </a:xfrm>
          <a:prstGeom prst="roundRect">
            <a:avLst>
              <a:gd fmla="val 5405" name="adj"/>
            </a:avLst>
          </a:prstGeom>
          <a:solidFill>
            <a:srgbClr val="8D2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8310677" y="376732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C9"/>
              </a:buClr>
              <a:buSzPts val="2200"/>
              <a:buFont typeface="Dela Gothic One"/>
              <a:buNone/>
            </a:pPr>
            <a:r>
              <a:rPr b="1" i="0" lang="en-US" sz="2200" u="none" cap="none" strike="noStrike">
                <a:solidFill>
                  <a:srgbClr val="FFC9C9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8310677" y="4251960"/>
            <a:ext cx="314949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Dela Gothic One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What-If Simulate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8310677" y="4645152"/>
            <a:ext cx="3149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Toggle indexes, compare baseline vs. simulated 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Database Query Visual Simulator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000"/>
              <a:buFont typeface="Dela Gothic One"/>
              <a:buNone/>
            </a:pPr>
            <a:r>
              <a:rPr b="1" i="0" lang="en-US" sz="30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Expected Outcomes and Benefits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640080" y="1737360"/>
            <a:ext cx="7863840" cy="685800"/>
          </a:xfrm>
          <a:prstGeom prst="roundRect">
            <a:avLst>
              <a:gd fmla="val 10667" name="adj"/>
            </a:avLst>
          </a:prstGeom>
          <a:solidFill>
            <a:srgbClr val="1C0F0F"/>
          </a:solidFill>
          <a:ln cap="flat" cmpd="sng" w="9525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868680" y="1920240"/>
            <a:ext cx="320040" cy="32004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1417320" y="1737360"/>
            <a:ext cx="6995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50"/>
              <a:buFont typeface="DM Sans"/>
              <a:buNone/>
            </a:pPr>
            <a:r>
              <a:rPr b="0" i="0" lang="en-US" sz="13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Interactive execution tree with inline CPU, I/O, and row estimates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640080" y="2578608"/>
            <a:ext cx="7863840" cy="685800"/>
          </a:xfrm>
          <a:prstGeom prst="roundRect">
            <a:avLst>
              <a:gd fmla="val 10667" name="adj"/>
            </a:avLst>
          </a:prstGeom>
          <a:solidFill>
            <a:srgbClr val="1C0F0F"/>
          </a:solidFill>
          <a:ln cap="flat" cmpd="sng" w="9525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868680" y="2761488"/>
            <a:ext cx="320040" cy="32004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1417320" y="2578608"/>
            <a:ext cx="6995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50"/>
              <a:buFont typeface="DM Sans"/>
              <a:buNone/>
            </a:pPr>
            <a:r>
              <a:rPr b="0" i="0" lang="en-US" sz="13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Faster what-if analysis for hypothetical indexes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640080" y="3419856"/>
            <a:ext cx="7863840" cy="685800"/>
          </a:xfrm>
          <a:prstGeom prst="roundRect">
            <a:avLst>
              <a:gd fmla="val 10667" name="adj"/>
            </a:avLst>
          </a:prstGeom>
          <a:solidFill>
            <a:srgbClr val="1C0F0F"/>
          </a:solidFill>
          <a:ln cap="flat" cmpd="sng" w="9525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868680" y="3602736"/>
            <a:ext cx="320040" cy="32004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1417320" y="3419856"/>
            <a:ext cx="6995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50"/>
              <a:buFont typeface="DM Sans"/>
              <a:buNone/>
            </a:pPr>
            <a:r>
              <a:rPr b="0" i="0" lang="en-US" sz="13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Clearer understanding of join and scan choices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640080" y="4261104"/>
            <a:ext cx="7863840" cy="685800"/>
          </a:xfrm>
          <a:prstGeom prst="roundRect">
            <a:avLst>
              <a:gd fmla="val 10667" name="adj"/>
            </a:avLst>
          </a:prstGeom>
          <a:solidFill>
            <a:srgbClr val="1C0F0F"/>
          </a:solidFill>
          <a:ln cap="flat" cmpd="sng" w="9525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868680" y="4443984"/>
            <a:ext cx="320040" cy="32004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1417320" y="4261104"/>
            <a:ext cx="6995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50"/>
              <a:buFont typeface="DM Sans"/>
              <a:buNone/>
            </a:pPr>
            <a:r>
              <a:rPr b="0" i="0" lang="en-US" sz="13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Safer experimentation — no live database is modified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640080" y="5102352"/>
            <a:ext cx="7863840" cy="685800"/>
          </a:xfrm>
          <a:prstGeom prst="roundRect">
            <a:avLst>
              <a:gd fmla="val 10667" name="adj"/>
            </a:avLst>
          </a:prstGeom>
          <a:solidFill>
            <a:srgbClr val="1C0F0F"/>
          </a:solidFill>
          <a:ln cap="flat" cmpd="sng" w="9525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868680" y="5285232"/>
            <a:ext cx="320040" cy="320040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1417320" y="5102352"/>
            <a:ext cx="6995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50"/>
              <a:buFont typeface="DM Sans"/>
              <a:buNone/>
            </a:pPr>
            <a:r>
              <a:rPr b="0" i="0" lang="en-US" sz="13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Better communication of performance tradeoffs in review and discussion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dia/image11.jpeg" id="314" name="Google Shape;3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8250" y="1971000"/>
            <a:ext cx="3301800" cy="3583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15" name="Google Shape;315;p14"/>
          <p:cNvSpPr/>
          <p:nvPr/>
        </p:nvSpPr>
        <p:spPr>
          <a:xfrm>
            <a:off x="8778240" y="5760720"/>
            <a:ext cx="2773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050"/>
              <a:buFont typeface="DM Sans"/>
              <a:buNone/>
            </a:pPr>
            <a:r>
              <a:rPr b="0" i="1" lang="en-US" sz="105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Key benefits for developers &amp; stakeholders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Database Query Visual Simulator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5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000"/>
              <a:buFont typeface="Dela Gothic One"/>
              <a:buNone/>
            </a:pPr>
            <a:r>
              <a:rPr b="1" i="0" lang="en-US" sz="30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Risks and Mitigation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1300"/>
              <a:buFont typeface="DM Sans"/>
              <a:buNone/>
            </a:pPr>
            <a:r>
              <a:rPr b="0" i="1" lang="en-US" sz="13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Keeping the MVP realistic and controlled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548640" y="1645920"/>
            <a:ext cx="5364328" cy="4206240"/>
          </a:xfrm>
          <a:prstGeom prst="roundRect">
            <a:avLst>
              <a:gd fmla="val 2609" name="adj"/>
            </a:avLst>
          </a:prstGeom>
          <a:solidFill>
            <a:srgbClr val="1C0F0F"/>
          </a:solidFill>
          <a:ln cap="flat" cmpd="sng" w="12700">
            <a:solidFill>
              <a:srgbClr val="3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822960" y="1828800"/>
            <a:ext cx="48156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700"/>
              <a:buFont typeface="Dela Gothic One"/>
              <a:buNone/>
            </a:pPr>
            <a:r>
              <a:rPr b="1" i="0" lang="en-US" sz="17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Risks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822960" y="2377440"/>
            <a:ext cx="48156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B3"/>
              </a:buClr>
              <a:buSzPts val="1400"/>
              <a:buFont typeface="DM Sans"/>
              <a:buNone/>
            </a:pPr>
            <a:r>
              <a:rPr b="1" i="0" lang="en-US" sz="1400" u="none" cap="none" strike="noStrike">
                <a:solidFill>
                  <a:srgbClr val="FFB3B3"/>
                </a:solidFill>
                <a:latin typeface="DM Sans"/>
                <a:ea typeface="DM Sans"/>
                <a:cs typeface="DM Sans"/>
                <a:sym typeface="DM Sans"/>
              </a:rPr>
              <a:t>Selectivity Uncertainty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822960" y="2697480"/>
            <a:ext cx="48156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Estimates are uncertain without real production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822960" y="3611880"/>
            <a:ext cx="48156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B3"/>
              </a:buClr>
              <a:buSzPts val="1400"/>
              <a:buFont typeface="DM Sans"/>
              <a:buNone/>
            </a:pPr>
            <a:r>
              <a:rPr b="1" i="0" lang="en-US" sz="1400" u="none" cap="none" strike="noStrike">
                <a:solidFill>
                  <a:srgbClr val="FFB3B3"/>
                </a:solidFill>
                <a:latin typeface="DM Sans"/>
                <a:ea typeface="DM Sans"/>
                <a:cs typeface="DM Sans"/>
                <a:sym typeface="DM Sans"/>
              </a:rPr>
              <a:t>Grammar Complexity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822960" y="3931920"/>
            <a:ext cx="48156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PostgreSQL's full grammar is large and hard to cover completely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822960" y="4846320"/>
            <a:ext cx="48156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B3"/>
              </a:buClr>
              <a:buSzPts val="1400"/>
              <a:buFont typeface="DM Sans"/>
              <a:buNone/>
            </a:pPr>
            <a:r>
              <a:rPr b="1" i="0" lang="en-US" sz="1400" u="none" cap="none" strike="noStrike">
                <a:solidFill>
                  <a:srgbClr val="FFB3B3"/>
                </a:solidFill>
                <a:latin typeface="DM Sans"/>
                <a:ea typeface="DM Sans"/>
                <a:cs typeface="DM Sans"/>
                <a:sym typeface="DM Sans"/>
              </a:rPr>
              <a:t>Cost Modeling Accuracy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822960" y="5166360"/>
            <a:ext cx="48156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Exact costs are difficult to model without live database statistics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6278728" y="1645920"/>
            <a:ext cx="5364328" cy="4206240"/>
          </a:xfrm>
          <a:prstGeom prst="roundRect">
            <a:avLst>
              <a:gd fmla="val 2609" name="adj"/>
            </a:avLst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6553048" y="1828800"/>
            <a:ext cx="48156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Dela Gothic One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Mitigation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6553048" y="2377440"/>
            <a:ext cx="4815688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●"/>
            </a:pPr>
            <a:r>
              <a:rPr b="0" i="0" lang="en-US" sz="14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Fixed heuristics as a stable baseline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●"/>
            </a:pPr>
            <a:r>
              <a:rPr b="0" i="0" lang="en-US" sz="14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limited, well-defined SQL subset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●"/>
            </a:pPr>
            <a:r>
              <a:rPr b="0" i="0" lang="en-US" sz="14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Optional user overrides for estimates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Database Query Visual Simulator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000"/>
              <a:buFont typeface="Dela Gothic One"/>
              <a:buNone/>
            </a:pPr>
            <a:r>
              <a:rPr b="1" i="0" lang="en-US" sz="30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Conclusion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640080" y="1737360"/>
            <a:ext cx="67665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00"/>
              <a:buFont typeface="DM Sans"/>
              <a:buChar char="●"/>
            </a:pPr>
            <a:r>
              <a:rPr b="0" i="0" lang="en-US" sz="16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simulator, not a full DBMS optimizer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600"/>
              <a:buFont typeface="DM Sans"/>
              <a:buChar char="●"/>
            </a:pPr>
            <a:r>
              <a:rPr b="0" i="0" lang="en-US" sz="16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Relevant because query planning is hard to interpret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600"/>
              <a:buFont typeface="DM Sans"/>
              <a:buChar char="●"/>
            </a:pPr>
            <a:r>
              <a:rPr b="0" i="0" lang="en-US" sz="16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Useful for teaching, review, and decision support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640080" y="3931920"/>
            <a:ext cx="10881360" cy="1737360"/>
          </a:xfrm>
          <a:prstGeom prst="roundRect">
            <a:avLst>
              <a:gd fmla="val 6316" name="adj"/>
            </a:avLst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914400" y="409651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C9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FFC9C9"/>
                </a:solidFill>
                <a:latin typeface="DM Sans"/>
                <a:ea typeface="DM Sans"/>
                <a:cs typeface="DM Sans"/>
                <a:sym typeface="DM Sans"/>
              </a:rPr>
              <a:t>Main Contribution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914400" y="4434840"/>
            <a:ext cx="10332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Dela Gothic One"/>
              <a:buNone/>
            </a:pPr>
            <a:r>
              <a:rPr b="1" i="1" lang="en-US" sz="200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Explainable what-if SQL optimization through a visual sandbox.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Database Query Visual Simulator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000"/>
              <a:buFont typeface="Dela Gothic One"/>
              <a:buNone/>
            </a:pPr>
            <a:r>
              <a:rPr b="1" i="0" lang="en-US" sz="30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References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548640" y="1508760"/>
            <a:ext cx="5387188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[1] M. M. Rahman, S. Islam, M. Kamruzzaman, and Z. H. Joy, “Advanced query optimization in SQL databases for real-time big data analytics,” Academic Journal on Business Administration, Innovation &amp; Sustainability, vol. 4, no. 3, pp. 1–14, Jul. 2024, doi: 10.69593/ajbais.v4i3.77.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FFE5E5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[2] A. Uzzaman, M. M. I. Jim, N. Nishat, and J. Nahar, “Optimizing SQL databases for big data workloads: Techniques and best practices,” Academic Journal on Business Administration, Innovation &amp; Sustainability, vol. 4, no. 3, pp. 15–29, Jul. 2024, doi: 10.69593/ajbais.v4i3.78.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FFE5E5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[3] V. Panwar, “AI-driven query optimization: Revolutionizing database performance and efficiency,” International Journal of Computer Trends and Technology, vol. 72, no. 3, pp. 18–26, Mar. 2024, doi: 10.14445/22312803/IJCTT-V72I3P103.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FFE5E5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[4] I. Ikram and N. Mazher, “Query optimization techniques in SQL: A performance-driven perspective,” Pioneer Research Journal of Computing Science, vol. 2, no. 2, pp. 154–161, 2025.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FFE5E5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[5] L. Gretscher and J. Dittrich, “How to optimize SQL queries? A comparison between split, holistic, and hybrid approaches,” Proceedings of the VLDB Endowment, vol. 18, no. 11, pp. 3910–3922, 2025, doi: 10.14778/3749646.3749663.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6255868" y="1508760"/>
            <a:ext cx="5387188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[6] S. P. Panda, “Dynamic cost-aware SQL rewriting algorithm for multi-cloud query optimization,” in Proc. 2025 International Conference on Intelligent Communication Networks and Computational Techniques (ICICNCT), 2025, doi: 10.1109/ICICNCT66124.2025.11233011.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FFE5E5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[7] T. Juopperi, “AI-driven SQL query optimization techniques,” Bachelor’s thesis, Haaga-Helia University of Applied Sciences, 2024.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FFE5E5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[8] M. A. Rahman, S. J. Hashmi, K. Gnanajothy, and Y.-K. Lee, “When temporary results meet intermediate index: An optimization technique of procedural SQL query processing,” Data &amp; Knowledge Engineering, vol. 164, 2026, Art. no. 102577, doi: 10.1016/j.datak.2026.102577.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FFE5E5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[9] J. Shajeena, R. M. Shiny, K. Gayathri Devi, and M. Vespa, “A review of query optimization techniques: From traditional to reinforcement learning approaches,” in Proc. International Conference on Electronics and Renewable Systems (ICEARS), 2026, doi: 10.1109/ICEARS67481.2026.11416629.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FFE5E5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[10] N. Hettiarachchi and P. Yapa, “OptimAIzerSQL: Optimizing SQL queries with heuristic and ML-based multi-agent systems,” in Proc. 5th International Conference on Machine Learning and Intelligent Systems Engineering (MLISE), 2025, doi: 10.1109/MLISE66443.2025.11100226.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Database Query Visual Simulator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8F8F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C98F8F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